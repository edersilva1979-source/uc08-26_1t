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98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Nós vamos abrir mostrando que a segunda aula deixa a interface mais completa e organizada.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Mostre que a aula une teoria e prática. Cada componente será aplicado no formulário.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Explique que o projeto trabalha a interface e a leitura dos componentes.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Reforce a validação pelo índice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Compare com ComboBox. O JList aparece aberto e pode aceitar várias seleções.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Explique que JTextArea é para textos maiores, não para dados curtos.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Mostre que ele é útil para conteúdo formatado dentro da aplicação.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Explique que as abas não são novas telas. São painéis dentro da mesma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Mostre a importância de organizar por assunto.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Reforce que jTextField1 não ajuda o aluno na hora de programar.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Destaque a diferença entre getText, getPassword, getSelectedItem e getValue.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Mostre que seleção única, independente e múltipla usam lógicas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Explique que validar faz parte da qualidade da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Diga que o JOptionPane é nosso retorno visual neste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Mostre que limpar envolve texto, seleção, abas e foco.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Use este slide como roteiro da atividade em laboratório.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Explique os requisitos do exercício individual e o desafio extra.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 Finalize retomando os componentes e conectando com 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85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☕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938528"/>
            <a:ext cx="5669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</a:rPr>
              <a:t>Novos Componentes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</a:rPr>
              <a:t>Java Swing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735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8DEE9"/>
                </a:solidFill>
              </a:rPr>
              <a:t>JComboBox, JList, JTextArea, JEditorPane e JTabbedPane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49808" y="4160520"/>
            <a:ext cx="4023360" cy="384048"/>
          </a:xfrm>
          <a:prstGeom prst="rect">
            <a:avLst/>
          </a:prstGeom>
          <a:solidFill>
            <a:srgbClr val="2DD4EF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</a:rPr>
              <a:t>Projeto prático: FrmCadastroCurso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48920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👨‍🏫 Nós vamos organizar uma tela por abas, ainda sem banco de dados.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0" y="22860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dirty="0">
                <a:solidFill>
                  <a:srgbClr val="2DD4EF"/>
                </a:solidFill>
              </a:rPr>
              <a:t>▾     ☰     📝     HTML     🗂️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49808" y="55961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9DAAC0"/>
                </a:solidFill>
              </a:rPr>
              <a:t>Formulários  •  escolhas  •  textos longos  •  HTML  •  abas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ROTEIRO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O que nós vamos aprender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Cinco componentes novos, aplicados em um formulário completo.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02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011680" cy="128016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▾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JComboBox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Escolha guiada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2219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D4EF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17520" y="2148840"/>
            <a:ext cx="2011680" cy="128016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☰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JList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Seleção visível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22219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57800" y="2148840"/>
            <a:ext cx="2011680" cy="128016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📝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JTextArea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Textos longos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49240" y="22219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0" y="2148840"/>
            <a:ext cx="2011680" cy="128016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</a:rPr>
              <a:t>HTML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</a:rPr>
              <a:t>JEditorPane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</a:rPr>
              <a:t>Texto formatado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589520" y="22219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</a:rPr>
              <a:t>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738360" y="2148840"/>
            <a:ext cx="1828800" cy="128016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🗂️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JTabbedPane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Abas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829800" y="22219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7185"/>
                </a:solidFill>
              </a:rPr>
              <a:t>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43000" y="443484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Nós vamos misturar esses recursos com os componentes da primeira aula.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74520" y="5230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D8DEE9"/>
                </a:solidFill>
              </a:rPr>
              <a:t>Sem banco de dados  •  com validações  •  com exercícios práticos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PROJETO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FrmCadastroCurso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Nós vamos criar um cadastro de participantes de cursos.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03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154680" cy="265176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Situação prática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Cadastro de participante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Escolha de curso e turno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Lista de interesses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Observações em texto longo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Informações do curso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1305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D4EF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43400" y="2057400"/>
            <a:ext cx="3154680" cy="265176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Abas do formulário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Cadastro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Preferências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Informações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34840" y="21305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909560" y="2057400"/>
            <a:ext cx="3154680" cy="265176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Resultado esperado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Capturar dados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Validar campos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Apresentar resumo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Usar JOptionPane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01000" y="21305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3000" y="53492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A proposta é construir uma tela com cara de sistema, mas ainda sem gravar dados.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COMPONENTE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JComboBox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Quando nós queremos uma escolha entre várias opções.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04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dirty="0">
                <a:solidFill>
                  <a:srgbClr val="2DD4EF"/>
                </a:solidFill>
              </a:rPr>
              <a:t>▾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1920240" y="2057400"/>
            <a:ext cx="3474720" cy="201168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Exemplos de uso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Curso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Cidade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Turno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Categoria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Forma de pagamento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21305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D4EF"/>
                </a:solidFill>
              </a:rPr>
              <a:t>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89320" y="1965960"/>
            <a:ext cx="5120640" cy="3291840"/>
          </a:xfrm>
          <a:prstGeom prst="rect">
            <a:avLst/>
          </a:prstGeom>
          <a:solidFill>
            <a:srgbClr val="07101E"/>
          </a:solidFill>
          <a:ln w="10160">
            <a:solidFill>
              <a:srgbClr val="293B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 curso = cmbCurso.getSelectedItem().toString();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(cmbCurso.getSelectedIndex() == 0)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JOptionPane.showMessageDialog(this, "Selecione um curso.");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52578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A opção Selecione fica na posição zero.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COMPONENTE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JList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No Swing, o ListBox é representado pelo JList.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114800" cy="242316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Áreas de interesse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☑ Programação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☐ Desenvolvimento Web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☑ Aplicativos Desktop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☐ Redes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☐ Inteligência Artificial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77840" y="1874520"/>
            <a:ext cx="5440680" cy="3154680"/>
          </a:xfrm>
          <a:prstGeom prst="rect">
            <a:avLst/>
          </a:prstGeom>
          <a:solidFill>
            <a:srgbClr val="07101E"/>
          </a:solidFill>
          <a:ln w="10160">
            <a:solidFill>
              <a:srgbClr val="293B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List&lt;String&gt; interesses =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lstInteresses.getSelectedValuesList();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(lstInteresses.isSelectionEmpty())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JOptionPane.showMessageDialog(this, "Selecione uma área.");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56692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Use JList quando várias opções precisam ficar visíveis ao mesmo tempo.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COMPONENTE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JTextArea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Quando uma linha só não resolve, nós usamos várias linhas.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06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206240" cy="306324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Observações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Quero participar da turma da noite e revisar os exercícios em casa. Também desejo receber exercícios extras para praticar.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9933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06440" y="2148840"/>
            <a:ext cx="4983480" cy="2514600"/>
          </a:xfrm>
          <a:prstGeom prst="rect">
            <a:avLst/>
          </a:prstGeom>
          <a:solidFill>
            <a:srgbClr val="07101E"/>
          </a:solidFill>
          <a:ln w="10160">
            <a:solidFill>
              <a:srgbClr val="293B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 observacoes = txtObservacoes.getText();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txtObservacoes.setLineWrap(true);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txtObservacoes.setWrapStyleWord(true);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53492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Ideal para comentários, descrições, históricos e mensagens maiores.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COMPONENTE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JEditorPane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Nós podemos apresentar conteúdo formatado com HTML simples.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07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297680" cy="242316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Uso recomendado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Instruções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Termos de uso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Ajuda do sistema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Informações do curso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Textos explicativos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23560" y="1783080"/>
            <a:ext cx="5394960" cy="3886200"/>
          </a:xfrm>
          <a:prstGeom prst="rect">
            <a:avLst/>
          </a:prstGeom>
          <a:solidFill>
            <a:srgbClr val="07101E"/>
          </a:solidFill>
          <a:ln w="10160">
            <a:solidFill>
              <a:srgbClr val="293B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edtInformacoes.setContentType("text/html");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edtInformacoes.setText(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"&lt;html&gt;&lt;h2&gt;Curso Java Swing&lt;/h2&gt;"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+ "&lt;p&gt;Preencha os dados corretamente.&lt;/p&gt;"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+ "&lt;/html&gt;"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);</a:t>
            </a:r>
            <a:endParaRPr lang="en-US" sz="1140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edtInformacoes.setEditable(false);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COMPONENTE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JTabbedPane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Abas ajudam a organizar telas maiores.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08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3200400" cy="205740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Cadastro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Nome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Telefone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Senha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Curso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Turno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D4EF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80560" y="1965960"/>
            <a:ext cx="3200400" cy="205740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Preferências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Interesses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Conteúdos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Horas disponíveis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Observações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183880" y="1965960"/>
            <a:ext cx="3200400" cy="205740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Informações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Descrição do curso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Instruções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Texto em HTML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4617720"/>
            <a:ext cx="5760720" cy="1005840"/>
          </a:xfrm>
          <a:prstGeom prst="rect">
            <a:avLst/>
          </a:prstGeom>
          <a:solidFill>
            <a:srgbClr val="07101E"/>
          </a:solidFill>
          <a:ln w="10160">
            <a:solidFill>
              <a:srgbClr val="293B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tabPrincipal.setSelectedIndex(0);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aba = tabPrincipal.getSelectedIndex();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MAPA DA TELA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Três abas, uma experiência completa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Nós vamos distribuir os componentes por finalidade.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09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3337560" cy="205740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Aba Cadastro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Nome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Telefone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Data de nascimento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Senha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Curso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Turno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D4EF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34840" y="1965960"/>
            <a:ext cx="3337560" cy="205740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Aba Preferências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Interesses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Conteúdos desejados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Horas disponíveis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Observações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92440" y="1965960"/>
            <a:ext cx="3337560" cy="205740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Aba Informações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Descrição do curso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Instruções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Conteúdo HTML simples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11680" y="51206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</a:rPr>
              <a:t>Cada aba precisa ter uma função clara.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ORGANIZAÇÃO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Nomes dos componentes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Nomear bem facilita a programação dos eventos.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2514600" cy="324612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Campos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txtNome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fmtTelefone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fmtNascimento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pwdSenha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9476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D4EF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0" y="1874520"/>
            <a:ext cx="2514600" cy="324612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Escolhas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cmbCurso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rbManha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rbTarde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rbNoite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grpTurno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19476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72200" y="1874520"/>
            <a:ext cx="2514600" cy="324612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Preferências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lstInteresses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chkGit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chkSwing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chkApi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chkTestes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9476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869680" y="1874520"/>
            <a:ext cx="2514600" cy="324612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Estrutura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spnHoras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txtObservacoes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edtInformacoes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tabPrincipal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0" y="19476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</a:rPr>
              <a:t>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25880" y="562356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8DEE9"/>
                </a:solidFill>
              </a:rPr>
              <a:t>Padrão recomendado: prefixo do componente + função do campo.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CÓDIGO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Capturando valores principais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Depois de desenhar a tela, nós buscamos os dados informados.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5257800" cy="4023360"/>
          </a:xfrm>
          <a:prstGeom prst="rect">
            <a:avLst/>
          </a:prstGeom>
          <a:solidFill>
            <a:srgbClr val="07101E"/>
          </a:solidFill>
          <a:ln w="10160">
            <a:solidFill>
              <a:srgbClr val="293B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 nome = txtNome.getText();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 telefone = fmtTelefone.getText();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 senha = new String(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pwdSenha.getPassword()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);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 curso = cmbCurso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.getSelectedItem()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.toString();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horas = Integer.parseInt(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spnHoras.getValue().toString()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);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537960" y="2103120"/>
            <a:ext cx="4343400" cy="91440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💡 Cada componente possui uma forma correta de leitura.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176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</a:rPr>
              <a:t>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37960" y="3337560"/>
            <a:ext cx="4343400" cy="91440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🔐 PasswordField usa getPassword.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34107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7185"/>
                </a:solidFill>
              </a:rPr>
              <a:t>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537960" y="4572000"/>
            <a:ext cx="4343400" cy="91440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</a:rPr>
              <a:t>🔢 Spinner precisa de conversão para número.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46451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●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CÓDIGO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Capturando escolhas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RadioButton, CheckBox e JList trabalham com seleção.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12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074920" cy="4160520"/>
          </a:xfrm>
          <a:prstGeom prst="rect">
            <a:avLst/>
          </a:prstGeom>
          <a:solidFill>
            <a:srgbClr val="07101E"/>
          </a:solidFill>
          <a:ln w="10160">
            <a:solidFill>
              <a:srgbClr val="293B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 turno = "";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(rbManha.isSelected()) {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turno = "Manhã";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(rbTarde.isSelected()) {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turno = "Tarde";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(rbNoite.isSelected()) {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turno = "Noite";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List&lt;String&gt; interesses =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lstInteresses.getSelectedValuesList();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4892040" cy="4160520"/>
          </a:xfrm>
          <a:prstGeom prst="rect">
            <a:avLst/>
          </a:prstGeom>
          <a:solidFill>
            <a:srgbClr val="07101E"/>
          </a:solidFill>
          <a:ln w="10160">
            <a:solidFill>
              <a:srgbClr val="293B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 conteudos = "";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(chkGit.isSelected())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conteudos += "Git\n";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(chkSwing.isSelected())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conteudos += "Java Swing\n";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(chkApi.isSelected())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conteudos += "APIs\n";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(chkTestes.isSelected())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conteudos += "Testes\n";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VALIDAÇÃO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Antes de cadastrar, nós conferimos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Validação evita informações incompletas.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13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5669280" cy="3977640"/>
          </a:xfrm>
          <a:prstGeom prst="rect">
            <a:avLst/>
          </a:prstGeom>
          <a:solidFill>
            <a:srgbClr val="07101E"/>
          </a:solidFill>
          <a:ln w="10160">
            <a:solidFill>
              <a:srgbClr val="293B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(txtNome.getText().trim().isEmpty()) {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tabPrincipal.setSelectedIndex(0);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JOptionPane.showMessageDialog(this, "Informe o nome.");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txtNome.requestFocus();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return;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10" dirty="0"/>
          </a:p>
          <a:p>
            <a:pPr marL="0" indent="0">
              <a:buNone/>
            </a:pP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(cmbCurso.getSelectedIndex() == 0) {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JOptionPane.showMessageDialog(this, "Selecione um curso.");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return;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10" dirty="0"/>
          </a:p>
          <a:p>
            <a:pPr marL="0" indent="0">
              <a:buNone/>
            </a:pP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(lstInteresses.isSelectionEmpty()) {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JOptionPane.showMessageDialog(this, "Selecione um interesse.");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return;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10" dirty="0"/>
          </a:p>
        </p:txBody>
      </p:sp>
      <p:sp>
        <p:nvSpPr>
          <p:cNvPr id="8" name="Text 6"/>
          <p:cNvSpPr/>
          <p:nvPr/>
        </p:nvSpPr>
        <p:spPr>
          <a:xfrm>
            <a:off x="6995160" y="1920240"/>
            <a:ext cx="3840480" cy="91440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1. Voltar para a aba correta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86600" y="19933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D4EF"/>
                </a:solidFill>
              </a:rPr>
              <a:t>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995160" y="3200400"/>
            <a:ext cx="3840480" cy="91440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2. Avisar com mensagem objetiva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086600" y="327355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</a:rPr>
              <a:t>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95160" y="4480560"/>
            <a:ext cx="3840480" cy="91440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FAFC"/>
                </a:solidFill>
              </a:rPr>
              <a:t>3. Interromper com return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86600" y="45537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●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Botão Cadastrar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Nós reunimos as informações e apresentamos um resumo.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14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297680" cy="242316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JOptionPane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DADOS DO PARTICIPANTE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Nome: Maria Silva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Curso: Java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Turno: Noite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Interesses: Programação, Desktop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D4EF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23560" y="1783080"/>
            <a:ext cx="5394960" cy="3611880"/>
          </a:xfrm>
          <a:prstGeom prst="rect">
            <a:avLst/>
          </a:prstGeom>
          <a:solidFill>
            <a:srgbClr val="07101E"/>
          </a:solidFill>
          <a:ln w="10160">
            <a:solidFill>
              <a:srgbClr val="293B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JOptionPane.showMessageDialog(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this,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"DADOS DO PARTICIPANTE\n\n"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+ "Nome: " + nome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+ "\nCurso: " + curso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+ "\nTurno: " + turno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+ "\nInteresses: " + interesses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+ "\nHoras disponíveis: " + horas</a:t>
            </a: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);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1005840" y="566928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</a:rPr>
              <a:t>Nesta etapa, o cadastro confirma os dados. Ele ainda não grava informações.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Botão Limpar e navegação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Além de limpar, nós podemos controlar a aba ativa.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5212080" cy="4069080"/>
          </a:xfrm>
          <a:prstGeom prst="rect">
            <a:avLst/>
          </a:prstGeom>
          <a:solidFill>
            <a:srgbClr val="07101E"/>
          </a:solidFill>
          <a:ln w="10160">
            <a:solidFill>
              <a:srgbClr val="293B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txtNome.setText("");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fmtTelefone.setText("");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pwdSenha.setText("");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cmbCurso.setSelectedIndex(0);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grpTurno.clearSelection();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lstInteresses.clearSelection();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spnHoras.setValue(1);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txtObservacoes.setText("");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tabPrincipal.setSelectedIndex(0);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4EC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txtNome.requestFocus();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629400" y="2103120"/>
            <a:ext cx="4297680" cy="237744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botão Limpar deve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Apagar textos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Desmarcar opções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Voltar padrões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Retornar para a primeira aba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Posicionar o foco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20840" y="217627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●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PRÁTICA GUIADA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</a:rPr>
              <a:t>Construindo a tela juntos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Nós vamos montar, renomear, programar e testar.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16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920240" cy="210312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Criar o projeto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Aula02_ComponentesSwing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D4EF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0" y="1965960"/>
            <a:ext cx="1920240" cy="210312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Montar abas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Cadastro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Preferências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Informações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3464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09160" y="1965960"/>
            <a:ext cx="1920240" cy="210312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3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Adicionar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componentes novos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e anteriores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5120" y="1965960"/>
            <a:ext cx="1920240" cy="210312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4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Programar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Cadastrar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Limpar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Sair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</a:rPr>
              <a:t>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641080" y="1965960"/>
            <a:ext cx="1920240" cy="210312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Testar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validar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corrigir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3252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7185"/>
                </a:solidFill>
              </a:rPr>
              <a:t>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" y="4983480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</a:rPr>
              <a:t>Nós vamos testar a tela como usuário e depois como programador.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38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EF"/>
                </a:solidFill>
              </a:rPr>
              <a:t>EXERCÍCIOS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  <a:latin typeface="+mj-lt"/>
              </a:rPr>
              <a:t>CadastroWorkshop</a:t>
            </a:r>
            <a:endParaRPr lang="en-US" sz="29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4088" y="14813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8DEE9"/>
                </a:solidFill>
              </a:rPr>
              <a:t>Agora cada aluno desenvolve uma aplicação com quatro abas.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17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2514600" cy="192024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</a:rPr>
              <a:t>Aba Dados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</a:rPr>
              <a:t>JTextField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</a:rPr>
              <a:t>JFormattedTextField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</a:rPr>
              <a:t>JPasswordField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</a:rPr>
              <a:t>JComboBox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</a:rPr>
              <a:t>JSpinner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D4EF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514600" cy="192024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Aba Preferências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JList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JCheckBox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F8FAFC"/>
                </a:solidFill>
              </a:rPr>
              <a:t>JTextArea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56616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72200" y="1965960"/>
            <a:ext cx="2514600" cy="192024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+mj-lt"/>
              </a:rPr>
              <a:t>Aba Informações</a:t>
            </a:r>
            <a:endParaRPr lang="en-US" sz="1500" dirty="0">
              <a:latin typeface="+mj-lt"/>
            </a:endParaRPr>
          </a:p>
          <a:p>
            <a:pPr marL="0" indent="0">
              <a:buNone/>
            </a:pPr>
            <a:endParaRPr lang="en-US" sz="1500" dirty="0">
              <a:latin typeface="+mj-lt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+mj-lt"/>
              </a:rPr>
              <a:t>JEditorPane</a:t>
            </a:r>
            <a:endParaRPr lang="en-US" sz="1500" dirty="0">
              <a:latin typeface="+mj-lt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+mj-lt"/>
              </a:rPr>
              <a:t>HTML simples</a:t>
            </a:r>
            <a:endParaRPr lang="en-US" sz="1500" dirty="0">
              <a:latin typeface="+mj-lt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+mj-lt"/>
              </a:rPr>
              <a:t>Texto explicativo</a:t>
            </a:r>
            <a:endParaRPr lang="en-US" sz="15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6364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869680" y="1965960"/>
            <a:ext cx="2514600" cy="192024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+mj-lt"/>
              </a:rPr>
              <a:t>Aba Resumo</a:t>
            </a:r>
            <a:endParaRPr lang="en-US" sz="1500" dirty="0">
              <a:latin typeface="+mj-lt"/>
            </a:endParaRPr>
          </a:p>
          <a:p>
            <a:pPr marL="0" indent="0">
              <a:buNone/>
            </a:pPr>
            <a:endParaRPr lang="en-US" sz="1500" dirty="0">
              <a:latin typeface="+mj-lt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+mj-lt"/>
              </a:rPr>
              <a:t>JTextArea</a:t>
            </a:r>
            <a:endParaRPr lang="en-US" sz="1500" dirty="0">
              <a:latin typeface="+mj-lt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+mj-lt"/>
              </a:rPr>
              <a:t>Gerar Resumo</a:t>
            </a:r>
            <a:endParaRPr lang="en-US" sz="1500" dirty="0">
              <a:latin typeface="+mj-lt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+mj-lt"/>
              </a:rPr>
              <a:t>Limpar</a:t>
            </a:r>
            <a:endParaRPr lang="en-US" sz="15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61120" y="203911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</a:rPr>
              <a:t>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43000" y="48920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Botões obrigatórios: Cadastrar, Gerar Resumo, Limpar e Sair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54406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D8DEE9"/>
                </a:solidFill>
              </a:rPr>
              <a:t>Desafio: ComboBox de nível com mensagens para Iniciante, Intermediário e Avançado.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✅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D4EF"/>
                </a:solidFill>
              </a:rPr>
              <a:t>Fechamento da Aula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8FAFC"/>
                </a:solidFill>
              </a:rPr>
              <a:t>Hoje nós deixamos a interface mais organizada e mais próxima de um sistema real.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3749040"/>
            <a:ext cx="1965960" cy="109728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JComboBox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Escolha guiada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8221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D4EF"/>
                </a:solidFill>
              </a:rPr>
              <a:t>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834640" y="3749040"/>
            <a:ext cx="1965960" cy="109728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JList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Seleção visível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38221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</a:rPr>
              <a:t>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92040" y="3749040"/>
            <a:ext cx="1965960" cy="109728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JTextArea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Texto longo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38221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BF24"/>
                </a:solidFill>
              </a:rPr>
              <a:t>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49440" y="3749040"/>
            <a:ext cx="1965960" cy="109728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JEditorPane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HTML simples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38221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006840" y="3749040"/>
            <a:ext cx="1965960" cy="1097280"/>
          </a:xfrm>
          <a:prstGeom prst="rect">
            <a:avLst/>
          </a:prstGeom>
          <a:solidFill>
            <a:srgbClr val="152237">
              <a:alpha val="97000"/>
            </a:srgbClr>
          </a:solidFill>
          <a:ln w="8890">
            <a:solidFill>
              <a:srgbClr val="293B5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JTabbedPane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</a:rPr>
              <a:t>Abas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98280" y="382219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B7185"/>
                </a:solidFill>
              </a:rPr>
              <a:t>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1560" y="56692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D8DEE9"/>
                </a:solidFill>
                <a:latin typeface="+mj-lt"/>
              </a:rPr>
              <a:t>Próximo passo: continuar evoluindo a interface antes do banco de dados.</a:t>
            </a:r>
            <a:endParaRPr lang="en-US" sz="175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Java Swing com NetBeans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DAAC0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1726</Words>
  <Application>Microsoft Office PowerPoint</Application>
  <PresentationFormat>Widescreen</PresentationFormat>
  <Paragraphs>489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Cascadia Mono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Novos Componentes Java Swing</dc:title>
  <dc:subject>Aula 2 Java Swing com NetBeans</dc:subject>
  <dc:creator>OpenAI</dc:creator>
  <cp:lastModifiedBy>Eder Da Silva</cp:lastModifiedBy>
  <cp:revision>3</cp:revision>
  <dcterms:created xsi:type="dcterms:W3CDTF">2026-08-27T15:00:50Z</dcterms:created>
  <dcterms:modified xsi:type="dcterms:W3CDTF">2026-08-28T16:47:52Z</dcterms:modified>
</cp:coreProperties>
</file>